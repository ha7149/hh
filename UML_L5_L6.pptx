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7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>
        <p:scale>
          <a:sx n="94" d="100"/>
          <a:sy n="94" d="100"/>
        </p:scale>
        <p:origin x="608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8840" y="1929559"/>
            <a:ext cx="641432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rPr dirty="0"/>
              <a:t>Software Models and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39344-464A-2E3F-E83C-CD37A776BCAB}"/>
              </a:ext>
            </a:extLst>
          </p:cNvPr>
          <p:cNvSpPr txBox="1"/>
          <p:nvPr/>
        </p:nvSpPr>
        <p:spPr>
          <a:xfrm>
            <a:off x="3949002" y="3059668"/>
            <a:ext cx="429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CSC 4110 : Prepared by Arif Shariar Rahman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49" y="59839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dirty="0"/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3591" y="1084549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669280" cy="431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Explain why software engineers use models.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Differentiate predictive, extracted, and prescriptive models.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Identify major UML diagram families: structure and behavior diagrams.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Draw basic activity, use case, and class diagrams.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Use actors, system boundaries, include/extend/generalization relationships, multiplicity, aggregation, composition, and dependency correctly.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Write a structured use case description using preconditions, basic flow, alternatives, postconditions, and special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dirty="0"/>
              <a:t>Why do we need software models?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30352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5303520" cy="324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A model is a simplified view of a software system.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It retains the important properties and omits unnecessary clutter.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Different stakeholders need different views:</a:t>
            </a:r>
          </a:p>
          <a:p>
            <a:pPr marL="742950" lvl="1" indent="-285750">
              <a:lnSpc>
                <a:spcPct val="105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</a:defRPr>
            </a:pPr>
            <a:r>
              <a:rPr dirty="0"/>
              <a:t>Customers care about user goals and workflows.</a:t>
            </a:r>
          </a:p>
          <a:p>
            <a:pPr marL="742950" lvl="1" indent="-285750">
              <a:lnSpc>
                <a:spcPct val="105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</a:defRPr>
            </a:pPr>
            <a:r>
              <a:rPr dirty="0"/>
              <a:t>Developers care about classes, interfaces, dependencies, and data flow.</a:t>
            </a:r>
          </a:p>
          <a:p>
            <a:pPr marL="742950" lvl="1" indent="-285750">
              <a:lnSpc>
                <a:spcPct val="105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</a:defRPr>
            </a:pPr>
            <a:r>
              <a:rPr dirty="0"/>
              <a:t>Project managers care about risk, scope, and effort.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Good models help teams reason about complexity before mistakes become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024" y="5943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dirty="0"/>
              <a:t>Roles of software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 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When created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Main purpose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Predictive /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Before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Predict structure, behavior, risk, and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Class diagram before coding a hospital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Extracted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After or during implementation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Answer questions about existing code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Reverse-engineered dependency diagram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Prescriptive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Maintained with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Define rules/constraints for evolution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Architecture rule: UI cannot access database directly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800600"/>
            <a:ext cx="10515600" cy="685800"/>
          </a:xfrm>
          <a:prstGeom prst="roundRect">
            <a:avLst/>
          </a:prstGeom>
          <a:solidFill>
            <a:srgbClr val="E6F6E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Key point: “model” does not always mean “up-front documentation”; it can also explain or govern existing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5943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dirty="0"/>
              <a:t>Criteria for successful software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37760" cy="11887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Essential information retained</a:t>
            </a:r>
            <a:br/>
            <a:r>
              <a:t>Classes, actors, flows, rules,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17320"/>
            <a:ext cx="4937760" cy="118872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Clutter removed</a:t>
            </a:r>
            <a:br/>
            <a:r>
              <a:t>Low-level implementation details hidden when they are not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4937760" cy="118872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Audience-aware</a:t>
            </a:r>
            <a:br/>
            <a:r>
              <a:t>Model speaks to the stakeholder’s current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246120"/>
            <a:ext cx="4937760" cy="1188720"/>
          </a:xfrm>
          <a:prstGeom prst="roundRect">
            <a:avLst/>
          </a:prstGeom>
          <a:solidFill>
            <a:srgbClr val="EFE8FF"/>
          </a:solidFill>
          <a:ln w="1524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Consistent with system</a:t>
            </a:r>
            <a:br/>
            <a:r>
              <a:t>Model does not contradict the code or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CF4B4B"/>
                </a:solidFill>
              </a:defRPr>
            </a:pPr>
            <a:r>
              <a:t>Warning: a model that omits important information can become misleading and cause design mistakes.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What is UML?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rPr dirty="0"/>
              <a:t>Unified Modeling Language: a standard graphical notation for software analysis and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486400" cy="293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</a:defRPr>
            </a:pPr>
            <a:r>
              <a:rPr dirty="0"/>
              <a:t>UML provides pictures or views of an object-oriented system.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</a:defRPr>
            </a:pPr>
            <a:r>
              <a:rPr dirty="0"/>
              <a:t>It helps communicate system structure and behavior before or during implementation.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</a:defRPr>
            </a:pPr>
            <a:r>
              <a:rPr dirty="0"/>
              <a:t>It is not a programming language; it is a modeling language.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</a:defRPr>
            </a:pPr>
            <a:r>
              <a:rPr dirty="0"/>
              <a:t>It is useful because “a picture is worth a thousand words.”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4805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OO System: Hospital Appointment App</a:t>
            </a:r>
          </a:p>
        </p:txBody>
      </p:sp>
      <p:sp>
        <p:nvSpPr>
          <p:cNvPr id="7" name="Oval 6"/>
          <p:cNvSpPr/>
          <p:nvPr/>
        </p:nvSpPr>
        <p:spPr>
          <a:xfrm>
            <a:off x="6823252" y="233172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938467" y="2562148"/>
            <a:ext cx="0" cy="386791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57416" y="270205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757416" y="2948939"/>
            <a:ext cx="18105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38467" y="2948939"/>
            <a:ext cx="18928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29400" y="322051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267712"/>
            <a:ext cx="2011680" cy="5029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Make appointment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269480" y="2514600"/>
            <a:ext cx="731520" cy="22860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955279" y="3246120"/>
            <a:ext cx="21945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Appointment</a:t>
            </a:r>
            <a:br/>
            <a:r>
              <a:t>- date: Date</a:t>
            </a:r>
            <a:br/>
            <a:r>
              <a:t>- status: String</a:t>
            </a:r>
            <a:br/>
            <a:r>
              <a:t>+confirm()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166360"/>
            <a:ext cx="4114800" cy="685800"/>
          </a:xfrm>
          <a:prstGeom prst="roundRect">
            <a:avLst/>
          </a:prstGeom>
          <a:solidFill>
            <a:srgbClr val="FFEFD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UML is most effective when every diagram answers a specific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5787" y="5943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dirty="0"/>
              <a:t>UML diagram families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0" y="1143000"/>
            <a:ext cx="2194560" cy="594360"/>
          </a:xfrm>
          <a:prstGeom prst="round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UML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240280"/>
            <a:ext cx="2743200" cy="59436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Structure Diagrams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40280"/>
            <a:ext cx="2743200" cy="59436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Behavior Diagrams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560320" y="1737360"/>
            <a:ext cx="3474720" cy="502920"/>
          </a:xfrm>
          <a:prstGeom prst="line">
            <a:avLst/>
          </a:prstGeom>
          <a:ln w="1905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737360"/>
            <a:ext cx="3566160" cy="502920"/>
          </a:xfrm>
          <a:prstGeom prst="line">
            <a:avLst/>
          </a:prstGeom>
          <a:ln w="1905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154680"/>
            <a:ext cx="34747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40"/>
            <a:ext cx="34747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Component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34747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37760"/>
            <a:ext cx="34747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Implementation/Deployment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971800"/>
            <a:ext cx="365760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493008"/>
            <a:ext cx="365760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014215"/>
            <a:ext cx="365760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Collaboration /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535424"/>
            <a:ext cx="365760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5056631"/>
            <a:ext cx="365760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Use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5577838"/>
            <a:ext cx="4297680" cy="731520"/>
          </a:xfrm>
          <a:prstGeom prst="roundRect">
            <a:avLst/>
          </a:prstGeom>
          <a:solidFill>
            <a:srgbClr val="EFE8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rPr dirty="0"/>
              <a:t>Structure = what the system is made of. </a:t>
            </a:r>
            <a:endParaRPr lang="en-US" dirty="0"/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rPr dirty="0"/>
              <a:t>Behavior = what happens over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Activity diagrams: modeling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Activity diagrams are behavior diagrams: they describe what must happen.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94960" cy="258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Demonstrate the logic of an algorithm.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Describe the steps performed in a use case.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Illustrate a business process or workflow between users and the system.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Clarify complicated flows and alternative paths.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Model operations, functions, or method-level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29768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Example: Password reset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2148840"/>
            <a:ext cx="3474720" cy="438912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User requests reset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32520" y="2587752"/>
            <a:ext cx="0" cy="292608"/>
          </a:xfrm>
          <a:prstGeom prst="line">
            <a:avLst/>
          </a:prstGeom>
          <a:ln w="1778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95160" y="2880360"/>
            <a:ext cx="3474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System emails link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3319272"/>
            <a:ext cx="0" cy="292608"/>
          </a:xfrm>
          <a:prstGeom prst="line">
            <a:avLst/>
          </a:prstGeom>
          <a:ln w="1778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95160" y="3611880"/>
            <a:ext cx="3474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User enters new password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4050791"/>
            <a:ext cx="0" cy="292609"/>
          </a:xfrm>
          <a:prstGeom prst="line">
            <a:avLst/>
          </a:prstGeom>
          <a:ln w="1778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95160" y="4343400"/>
            <a:ext cx="3474720" cy="438912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System confirms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Components of an activity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Each symbol has a precise meaning.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00200" y="1874519"/>
            <a:ext cx="411480" cy="411480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9202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Start node</a:t>
            </a:r>
            <a:br/>
            <a:r>
              <a:t>black circle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788920"/>
            <a:ext cx="19202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Action</a:t>
            </a:r>
            <a:br/>
            <a:r>
              <a:t>rounded rectangle</a:t>
            </a:r>
          </a:p>
        </p:txBody>
      </p:sp>
      <p:sp>
        <p:nvSpPr>
          <p:cNvPr id="9" name="Diamond 8"/>
          <p:cNvSpPr/>
          <p:nvPr/>
        </p:nvSpPr>
        <p:spPr>
          <a:xfrm>
            <a:off x="5897880" y="1691640"/>
            <a:ext cx="777240" cy="777240"/>
          </a:xfrm>
          <a:prstGeom prst="diamond">
            <a:avLst/>
          </a:prstGeom>
          <a:solidFill>
            <a:srgbClr val="FFFFFF"/>
          </a:solidFill>
          <a:ln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03520" y="2788920"/>
            <a:ext cx="19202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Decision node</a:t>
            </a:r>
            <a:br/>
            <a:r>
              <a:t>diamond with guard conditions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2057400"/>
            <a:ext cx="1280160" cy="0"/>
          </a:xfrm>
          <a:prstGeom prst="line">
            <a:avLst/>
          </a:prstGeom>
          <a:ln w="2540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2788920"/>
            <a:ext cx="19202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Control flow</a:t>
            </a:r>
            <a:br/>
            <a:r>
              <a:t>connector showing order</a:t>
            </a:r>
          </a:p>
        </p:txBody>
      </p:sp>
      <p:sp>
        <p:nvSpPr>
          <p:cNvPr id="13" name="Oval 12"/>
          <p:cNvSpPr/>
          <p:nvPr/>
        </p:nvSpPr>
        <p:spPr>
          <a:xfrm>
            <a:off x="10533888" y="1810512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34472" y="1911095"/>
            <a:ext cx="301752" cy="301752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84080" y="2788920"/>
            <a:ext cx="19202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End node</a:t>
            </a:r>
            <a:br/>
            <a:r>
              <a:t>outlined final circle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92040"/>
            <a:ext cx="9784080" cy="731520"/>
          </a:xfrm>
          <a:prstGeom prst="roundRect">
            <a:avLst/>
          </a:prstGeom>
          <a:solidFill>
            <a:srgbClr val="FFEFD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Common mistake: using a decision node without labeling the outgoing conditions, such as [valid] and [invalid].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Activity diagram example: User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This expands the simple “user login” example into an executable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40112" y="1129284"/>
            <a:ext cx="274320" cy="274320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34272" y="1659636"/>
            <a:ext cx="228600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rPr dirty="0"/>
              <a:t>Enter username &amp;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4272" y="2436876"/>
            <a:ext cx="228600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Validate credentials</a:t>
            </a:r>
          </a:p>
        </p:txBody>
      </p:sp>
      <p:sp>
        <p:nvSpPr>
          <p:cNvPr id="8" name="Diamond 7"/>
          <p:cNvSpPr/>
          <p:nvPr/>
        </p:nvSpPr>
        <p:spPr>
          <a:xfrm>
            <a:off x="7474352" y="3076956"/>
            <a:ext cx="1005840" cy="777240"/>
          </a:xfrm>
          <a:prstGeom prst="diamond">
            <a:avLst/>
          </a:prstGeom>
          <a:solidFill>
            <a:srgbClr val="FFEFDB"/>
          </a:solidFill>
          <a:ln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2672" y="4192755"/>
            <a:ext cx="201168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Show error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0152" y="4174236"/>
            <a:ext cx="2011680" cy="45720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Open dashboard</a:t>
            </a:r>
          </a:p>
        </p:txBody>
      </p:sp>
      <p:sp>
        <p:nvSpPr>
          <p:cNvPr id="12" name="Oval 11"/>
          <p:cNvSpPr/>
          <p:nvPr/>
        </p:nvSpPr>
        <p:spPr>
          <a:xfrm>
            <a:off x="9074552" y="5134356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65992" y="5225796"/>
            <a:ext cx="228600" cy="228600"/>
          </a:xfrm>
          <a:prstGeom prst="ellipse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977272" y="1431036"/>
            <a:ext cx="0" cy="228600"/>
          </a:xfrm>
          <a:prstGeom prst="line">
            <a:avLst/>
          </a:prstGeom>
          <a:ln w="1905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77272" y="2116836"/>
            <a:ext cx="0" cy="320040"/>
          </a:xfrm>
          <a:prstGeom prst="line">
            <a:avLst/>
          </a:prstGeom>
          <a:ln w="1905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77272" y="2894076"/>
            <a:ext cx="0" cy="182880"/>
          </a:xfrm>
          <a:prstGeom prst="line">
            <a:avLst/>
          </a:prstGeom>
          <a:ln w="1905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05672" y="3488436"/>
            <a:ext cx="868680" cy="685800"/>
          </a:xfrm>
          <a:prstGeom prst="line">
            <a:avLst/>
          </a:prstGeom>
          <a:ln w="1651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0192" y="3488436"/>
            <a:ext cx="685800" cy="685800"/>
          </a:xfrm>
          <a:prstGeom prst="line">
            <a:avLst/>
          </a:prstGeom>
          <a:ln w="1651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 flipH="1" flipV="1">
            <a:off x="5878261" y="1403604"/>
            <a:ext cx="16436" cy="2770632"/>
          </a:xfrm>
          <a:prstGeom prst="line">
            <a:avLst/>
          </a:prstGeom>
          <a:ln w="1397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65992" y="4631436"/>
            <a:ext cx="91439" cy="502920"/>
          </a:xfrm>
          <a:prstGeom prst="line">
            <a:avLst/>
          </a:prstGeom>
          <a:ln w="1651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1508760"/>
            <a:ext cx="352044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41414"/>
                </a:solidFill>
              </a:defRPr>
            </a:pPr>
            <a:r>
              <a:t>Scenario notes</a:t>
            </a:r>
            <a:br/>
            <a:br/>
            <a:r>
              <a:t>• Normal path: credentials are valid, user sees dashboard.</a:t>
            </a:r>
            <a:br/>
            <a:r>
              <a:t>• Alternative path: invalid credentials, system displays error.</a:t>
            </a:r>
            <a:br/>
            <a:r>
              <a:t>• Guard conditions should be explicit: [valid], [invalid], [retry].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C555BC-6A38-34C8-32EA-4F4109F03B29}"/>
              </a:ext>
            </a:extLst>
          </p:cNvPr>
          <p:cNvCxnSpPr>
            <a:endCxn id="5" idx="3"/>
          </p:cNvCxnSpPr>
          <p:nvPr/>
        </p:nvCxnSpPr>
        <p:spPr>
          <a:xfrm flipV="1">
            <a:off x="5894697" y="1363431"/>
            <a:ext cx="1985588" cy="4017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Swim lanes: who performs each action?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Swim lanes partition an activity diagram by responsibility.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solidFill>
            <a:srgbClr val="E5E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10789920" cy="1280160"/>
          </a:xfrm>
          <a:prstGeom prst="rect">
            <a:avLst/>
          </a:prstGeom>
          <a:solidFill>
            <a:srgbClr val="E6F6E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51960"/>
            <a:ext cx="10789920" cy="1280160"/>
          </a:xfrm>
          <a:prstGeom prst="rect">
            <a:avLst/>
          </a:prstGeom>
          <a:solidFill>
            <a:srgbClr val="FFEFD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Payment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719072"/>
            <a:ext cx="173736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Select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19072"/>
            <a:ext cx="1645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136392"/>
            <a:ext cx="1645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Create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136392"/>
            <a:ext cx="1645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Request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553712"/>
            <a:ext cx="1645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Authorize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3136392"/>
            <a:ext cx="164592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Confirm order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1920240"/>
            <a:ext cx="274320" cy="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0" y="2130552"/>
            <a:ext cx="0" cy="100584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3337560"/>
            <a:ext cx="320040" cy="0"/>
          </a:xfrm>
          <a:prstGeom prst="line">
            <a:avLst/>
          </a:prstGeom>
          <a:ln w="1524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3547872"/>
            <a:ext cx="0" cy="1005840"/>
          </a:xfrm>
          <a:prstGeom prst="line">
            <a:avLst/>
          </a:prstGeom>
          <a:ln w="15240">
            <a:solidFill>
              <a:srgbClr val="EE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275320" y="3547872"/>
            <a:ext cx="1188720" cy="1207008"/>
          </a:xfrm>
          <a:prstGeom prst="line">
            <a:avLst/>
          </a:prstGeom>
          <a:ln w="15240">
            <a:solidFill>
              <a:srgbClr val="EE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920240" y="5715000"/>
            <a:ext cx="8778240" cy="502920"/>
          </a:xfrm>
          <a:prstGeom prst="roundRect">
            <a:avLst/>
          </a:prstGeom>
          <a:solidFill>
            <a:srgbClr val="EFE8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Swim lanes make responsibility explicit: user action vs system action vs external service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diagrams: external view of system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Use case diagrams emphasize what a system does, not how it does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1625802"/>
            <a:ext cx="5486400" cy="3112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 use case describes a goal-oriented interaction between an actor and a system.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It is closely connected to scenarios: examples of what happens when someone interacts with the system.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Use cases help discover requirements and system scope.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They are most useful early in requirements analysis and stakeholder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80" y="1545336"/>
            <a:ext cx="3383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Clinic System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2093976"/>
            <a:ext cx="4297680" cy="2560320"/>
          </a:xfrm>
          <a:prstGeom prst="rect">
            <a:avLst/>
          </a:prstGeom>
          <a:solidFill>
            <a:srgbClr val="FCFD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58200" y="2551176"/>
            <a:ext cx="2103120" cy="5029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Make appointment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282696"/>
            <a:ext cx="2103120" cy="5029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Cancel appointment</a:t>
            </a:r>
          </a:p>
        </p:txBody>
      </p:sp>
      <p:sp>
        <p:nvSpPr>
          <p:cNvPr id="10" name="Oval 9"/>
          <p:cNvSpPr/>
          <p:nvPr/>
        </p:nvSpPr>
        <p:spPr>
          <a:xfrm>
            <a:off x="6486753" y="2734056"/>
            <a:ext cx="204825" cy="204825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589166" y="2938881"/>
            <a:ext cx="0" cy="343815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28232" y="3063240"/>
            <a:ext cx="329184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8232" y="3282696"/>
            <a:ext cx="160934" cy="219456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9166" y="3282696"/>
            <a:ext cx="168250" cy="219456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524097"/>
            <a:ext cx="621792" cy="204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949440" y="2779776"/>
            <a:ext cx="1508760" cy="27432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3054096"/>
            <a:ext cx="1508760" cy="45720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Actors in use case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An actor is outside the system and interacts with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029200" cy="28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Actors may be human users, peripheral devices, external systems, subsystems, or time-based events.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Actors are represented with stick figures and must be labeled.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 single actor can represent many physical users.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Actors are not part of the system boundary.</a:t>
            </a:r>
          </a:p>
        </p:txBody>
      </p:sp>
      <p:sp>
        <p:nvSpPr>
          <p:cNvPr id="6" name="Oval 5"/>
          <p:cNvSpPr/>
          <p:nvPr/>
        </p:nvSpPr>
        <p:spPr>
          <a:xfrm>
            <a:off x="6914692" y="182880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7029907" y="2059228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48856" y="219913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848856" y="2446020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29907" y="2446020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20840" y="271759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337560"/>
            <a:ext cx="12344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A365D"/>
                </a:solidFill>
              </a:defRPr>
            </a:pPr>
            <a:r>
              <a:t>Human user</a:t>
            </a:r>
          </a:p>
        </p:txBody>
      </p:sp>
      <p:sp>
        <p:nvSpPr>
          <p:cNvPr id="13" name="Oval 12"/>
          <p:cNvSpPr/>
          <p:nvPr/>
        </p:nvSpPr>
        <p:spPr>
          <a:xfrm>
            <a:off x="8332012" y="182880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8447227" y="2059228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66176" y="219913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266176" y="2446020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47227" y="2446020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0" y="271759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Payment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337560"/>
            <a:ext cx="12344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A365D"/>
                </a:solidFill>
              </a:defRPr>
            </a:pPr>
            <a:r>
              <a:t>External 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9749332" y="182880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9864547" y="2059228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83496" y="219913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683496" y="2446020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64547" y="2446020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55480" y="271759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Timer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337560"/>
            <a:ext cx="12344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A365D"/>
                </a:solidFill>
              </a:defRPr>
            </a:pPr>
            <a:r>
              <a:t>Time event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09160"/>
            <a:ext cx="4846320" cy="868680"/>
          </a:xfrm>
          <a:prstGeom prst="roundRect">
            <a:avLst/>
          </a:prstGeom>
          <a:solidFill>
            <a:srgbClr val="E6F6E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Ask: “Does this thing initiate or participate in a scenario?” If yes, it may be an actor.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Actor vs stakeholder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stakeholder may care about the system without directly acting in a scenario.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663440" cy="59436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663440" cy="59436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Has behavior that interacts with the system.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Primary actor initiates an interaction to achieve a goal.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Supporting actor helps the use case complete a sub-goal.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4028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Has an interest in the system outcome.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May not interact with the system in any scenario.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Examples: supplier, vendor, stock agency, regulator, manager.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166360"/>
            <a:ext cx="8046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Example: A hospital administrator is a stakeholder; they become an actor only if they log in and use administrative functions.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How to identify 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Use these questions during requirements elicitation.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Who is interested in the scenario or system?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Where in the organization will the system be used?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Who benefits from the system?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651760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Who supplies, uses, or removes information?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77639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Does one person play several different roles?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977639"/>
            <a:ext cx="50292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Do several people play the same role?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577840"/>
            <a:ext cx="9418320" cy="594360"/>
          </a:xfrm>
          <a:prstGeom prst="roundRect">
            <a:avLst/>
          </a:prstGeom>
          <a:solidFill>
            <a:srgbClr val="EFE8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Classroom prompt: identify actors for a Wayne State course registration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cases and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Each use case represents one user-visible function or goal.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 b="0">
                <a:solidFill>
                  <a:srgbClr val="141414"/>
                </a:solidFill>
              </a:defRPr>
            </a:pPr>
            <a:r>
              <a:t>A use case can contain several paths through the system.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 b="0">
                <a:solidFill>
                  <a:srgbClr val="141414"/>
                </a:solidFill>
              </a:defRPr>
            </a:pPr>
            <a:r>
              <a:t>Each path is a scenario.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 b="0">
                <a:solidFill>
                  <a:srgbClr val="141414"/>
                </a:solidFill>
              </a:defRPr>
            </a:pPr>
            <a:r>
              <a:t>Use cases are drawn as ovals/ellipses.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 b="0">
                <a:solidFill>
                  <a:srgbClr val="141414"/>
                </a:solidFill>
              </a:defRPr>
            </a:pPr>
            <a:r>
              <a:t>Actors are stick figures; communications are lines connecting actors to use cases.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 b="0">
                <a:solidFill>
                  <a:srgbClr val="141414"/>
                </a:solidFill>
              </a:defRPr>
            </a:pPr>
            <a:r>
              <a:t>Use case names should be active verb phrases: “Make appointment,” “Withdraw cash,” “Generate report.”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4122" y="2446391"/>
            <a:ext cx="3931920" cy="45720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Use case: Make appointment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5707" y="3299253"/>
            <a:ext cx="3474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Basic path:</a:t>
            </a:r>
            <a:br/>
            <a:r>
              <a:t>appointment booked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4122" y="343270"/>
            <a:ext cx="3474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rPr dirty="0"/>
              <a:t>Alternative:</a:t>
            </a:r>
            <a:br>
              <a:rPr dirty="0"/>
            </a:br>
            <a:r>
              <a:rPr dirty="0"/>
              <a:t>no doctor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2722" y="5372471"/>
            <a:ext cx="34747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Failure:</a:t>
            </a:r>
            <a:br/>
            <a:r>
              <a:t>patient not validated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74482" y="2903590"/>
            <a:ext cx="0" cy="365761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189" y="1029070"/>
            <a:ext cx="0" cy="1417321"/>
          </a:xfrm>
          <a:prstGeom prst="line">
            <a:avLst/>
          </a:prstGeom>
          <a:ln w="13970">
            <a:solidFill>
              <a:srgbClr val="EE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4914" y="2903590"/>
            <a:ext cx="0" cy="2468881"/>
          </a:xfrm>
          <a:prstGeom prst="line">
            <a:avLst/>
          </a:prstGeom>
          <a:ln w="1397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relationships and system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boundary rectangle defines the scope of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45412" y="274320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360627" y="2973628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9576" y="311353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79576" y="3360420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60627" y="3360420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363199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17320"/>
            <a:ext cx="4663440" cy="3886200"/>
          </a:xfrm>
          <a:prstGeom prst="rect">
            <a:avLst/>
          </a:prstGeom>
          <a:solidFill>
            <a:srgbClr val="FCFD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57276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Clinic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286000"/>
            <a:ext cx="2011680" cy="5029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Make appointment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246120"/>
            <a:ext cx="2011680" cy="50292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Update profile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37360" y="2542032"/>
            <a:ext cx="2057400" cy="521208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37360" y="3063240"/>
            <a:ext cx="2057400" cy="438912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164592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Association: actor communicates with use case.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Boundary: what is inside the system scope.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Actors remain outside the rectangle.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Use cases inside the boundary must be functions provided by the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Sample use case diagram: Hospital / clinic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realistic example that combines multiple actors and use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0" y="1325880"/>
            <a:ext cx="6035040" cy="4480560"/>
          </a:xfrm>
          <a:prstGeom prst="rect">
            <a:avLst/>
          </a:prstGeom>
          <a:solidFill>
            <a:srgbClr val="FCFD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1508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Hospital System</a:t>
            </a:r>
          </a:p>
        </p:txBody>
      </p:sp>
      <p:sp>
        <p:nvSpPr>
          <p:cNvPr id="7" name="Oval 6"/>
          <p:cNvSpPr/>
          <p:nvPr/>
        </p:nvSpPr>
        <p:spPr>
          <a:xfrm>
            <a:off x="3749039" y="2057400"/>
            <a:ext cx="1600200" cy="658368"/>
          </a:xfrm>
          <a:prstGeom prst="ellipse">
            <a:avLst/>
          </a:prstGeom>
          <a:solidFill>
            <a:srgbClr val="E5EFFF"/>
          </a:solidFill>
          <a:ln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Make</a:t>
            </a:r>
            <a:br/>
            <a:r>
              <a:t>Appointment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2057400"/>
            <a:ext cx="1600200" cy="658368"/>
          </a:xfrm>
          <a:prstGeom prst="ellipse">
            <a:avLst/>
          </a:prstGeom>
          <a:solidFill>
            <a:srgbClr val="E5EFFF"/>
          </a:solidFill>
          <a:ln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View</a:t>
            </a:r>
            <a:br/>
            <a:r>
              <a:t>Schedule</a:t>
            </a:r>
          </a:p>
        </p:txBody>
      </p:sp>
      <p:sp>
        <p:nvSpPr>
          <p:cNvPr id="9" name="Oval 8"/>
          <p:cNvSpPr/>
          <p:nvPr/>
        </p:nvSpPr>
        <p:spPr>
          <a:xfrm>
            <a:off x="3749039" y="3383280"/>
            <a:ext cx="1600200" cy="658368"/>
          </a:xfrm>
          <a:prstGeom prst="ellipse">
            <a:avLst/>
          </a:prstGeom>
          <a:solidFill>
            <a:srgbClr val="E5EFFF"/>
          </a:solidFill>
          <a:ln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Cancel</a:t>
            </a:r>
            <a:br/>
            <a:r>
              <a:t>Appointment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3383280"/>
            <a:ext cx="1600200" cy="658368"/>
          </a:xfrm>
          <a:prstGeom prst="ellipse">
            <a:avLst/>
          </a:prstGeom>
          <a:solidFill>
            <a:srgbClr val="E5EFFF"/>
          </a:solidFill>
          <a:ln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Update</a:t>
            </a:r>
            <a:br/>
            <a:r>
              <a:t>Medical 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4617720"/>
            <a:ext cx="1600200" cy="658368"/>
          </a:xfrm>
          <a:prstGeom prst="ellipse">
            <a:avLst/>
          </a:prstGeom>
          <a:solidFill>
            <a:srgbClr val="E5EFFF"/>
          </a:solidFill>
          <a:ln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Process</a:t>
            </a:r>
            <a:br/>
            <a:r>
              <a:t>Payment</a:t>
            </a:r>
          </a:p>
        </p:txBody>
      </p:sp>
      <p:sp>
        <p:nvSpPr>
          <p:cNvPr id="12" name="Oval 11"/>
          <p:cNvSpPr/>
          <p:nvPr/>
        </p:nvSpPr>
        <p:spPr>
          <a:xfrm>
            <a:off x="1428292" y="233172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543507" y="2562148"/>
            <a:ext cx="0" cy="386791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62456" y="270205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362456" y="2948939"/>
            <a:ext cx="18105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43507" y="2948939"/>
            <a:ext cx="18928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39" y="322051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sp>
        <p:nvSpPr>
          <p:cNvPr id="18" name="Oval 17"/>
          <p:cNvSpPr/>
          <p:nvPr/>
        </p:nvSpPr>
        <p:spPr>
          <a:xfrm>
            <a:off x="10271760" y="227960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0386975" y="2510028"/>
            <a:ext cx="0" cy="386791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5924" y="2649932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205924" y="2896819"/>
            <a:ext cx="18105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86975" y="2896819"/>
            <a:ext cx="189281" cy="246889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77908" y="3168396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Doctor</a:t>
            </a:r>
          </a:p>
        </p:txBody>
      </p:sp>
      <p:sp>
        <p:nvSpPr>
          <p:cNvPr id="24" name="Oval 23"/>
          <p:cNvSpPr/>
          <p:nvPr/>
        </p:nvSpPr>
        <p:spPr>
          <a:xfrm>
            <a:off x="10323762" y="4243732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10438977" y="4474160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2500" y="4608775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257926" y="4860952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438977" y="4860952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29910" y="5132528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Billing</a:t>
            </a:r>
            <a:br/>
            <a:r>
              <a:t>System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920240" y="2377440"/>
            <a:ext cx="1828799" cy="27432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20240" y="2651760"/>
            <a:ext cx="1828799" cy="105156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20240" y="2651760"/>
            <a:ext cx="2971800" cy="228600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635240" y="2377440"/>
            <a:ext cx="2560320" cy="27432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635240" y="2651760"/>
            <a:ext cx="2560320" cy="105156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525160" y="4602176"/>
            <a:ext cx="3703320" cy="365760"/>
          </a:xfrm>
          <a:prstGeom prst="line">
            <a:avLst/>
          </a:prstGeom>
          <a:ln w="1397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relationship: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Generalization represents inheritance from child to parent.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120640" cy="238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Use when specialized actors or use cases share common behavior.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Arrow points from child to parent.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It is represented by a line with a hollow triangle arrowhead.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 b="0">
                <a:solidFill>
                  <a:srgbClr val="141414"/>
                </a:solidFill>
              </a:defRPr>
            </a:pPr>
            <a:r>
              <a:rPr dirty="0"/>
              <a:t>Example: New Patient and Returning Patient are specialized forms of Patient.</a:t>
            </a:r>
          </a:p>
        </p:txBody>
      </p:sp>
      <p:sp>
        <p:nvSpPr>
          <p:cNvPr id="6" name="Oval 5"/>
          <p:cNvSpPr/>
          <p:nvPr/>
        </p:nvSpPr>
        <p:spPr>
          <a:xfrm>
            <a:off x="8487461" y="1417320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602675" y="1655977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21624" y="1795881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421624" y="2042769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02675" y="2042769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45602" y="2247597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rPr dirty="0"/>
              <a:t>Patient</a:t>
            </a:r>
          </a:p>
        </p:txBody>
      </p:sp>
      <p:sp>
        <p:nvSpPr>
          <p:cNvPr id="12" name="Oval 11"/>
          <p:cNvSpPr/>
          <p:nvPr/>
        </p:nvSpPr>
        <p:spPr>
          <a:xfrm>
            <a:off x="7261198" y="3799791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7376412" y="4017873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95361" y="4157777"/>
            <a:ext cx="370332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195361" y="4404665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76412" y="4404665"/>
            <a:ext cx="18928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67345" y="4676241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New</a:t>
            </a:r>
            <a:br/>
            <a:r>
              <a:t>Patient</a:t>
            </a:r>
          </a:p>
        </p:txBody>
      </p:sp>
      <p:sp>
        <p:nvSpPr>
          <p:cNvPr id="18" name="Oval 17"/>
          <p:cNvSpPr/>
          <p:nvPr/>
        </p:nvSpPr>
        <p:spPr>
          <a:xfrm>
            <a:off x="9429292" y="3787445"/>
            <a:ext cx="230428" cy="230428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9544507" y="4017873"/>
            <a:ext cx="0" cy="386792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63456" y="4157777"/>
            <a:ext cx="370331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363456" y="4404665"/>
            <a:ext cx="181051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44507" y="4404665"/>
            <a:ext cx="189280" cy="24688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35439" y="4676241"/>
            <a:ext cx="699516" cy="230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Returning</a:t>
            </a:r>
            <a:br/>
            <a:r>
              <a:t>Patient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94960"/>
            <a:ext cx="4206240" cy="594360"/>
          </a:xfrm>
          <a:prstGeom prst="roundRect">
            <a:avLst/>
          </a:prstGeom>
          <a:solidFill>
            <a:srgbClr val="FFEFD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In UML notation, the hollow triangle points to the more general parent.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19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A079E7-D8D3-FDEE-BFEA-A36AE98FDA18}"/>
              </a:ext>
            </a:extLst>
          </p:cNvPr>
          <p:cNvCxnSpPr>
            <a:endCxn id="11" idx="2"/>
          </p:cNvCxnSpPr>
          <p:nvPr/>
        </p:nvCxnSpPr>
        <p:spPr>
          <a:xfrm flipV="1">
            <a:off x="7447788" y="2478025"/>
            <a:ext cx="1147572" cy="127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50DD3E-75EB-AAD5-8390-094E20C91EDD}"/>
              </a:ext>
            </a:extLst>
          </p:cNvPr>
          <p:cNvCxnSpPr>
            <a:endCxn id="11" idx="2"/>
          </p:cNvCxnSpPr>
          <p:nvPr/>
        </p:nvCxnSpPr>
        <p:spPr>
          <a:xfrm flipH="1" flipV="1">
            <a:off x="8595360" y="2478025"/>
            <a:ext cx="949146" cy="127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relationships: &lt;&lt;include&gt;&gt; and &lt;&lt;extend&gt;&gt;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These two relationships are often confused.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74920" cy="54864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&lt;&lt;include&gt;&gt; = required reusable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02840"/>
            <a:ext cx="1965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ATM Withdrawal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4320" y="2402840"/>
            <a:ext cx="1965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rPr dirty="0"/>
              <a:t>Validate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3700" y="2276856"/>
            <a:ext cx="1005840" cy="32004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4FA765"/>
                </a:solidFill>
              </a:defRPr>
            </a:pPr>
            <a:r>
              <a:rPr dirty="0"/>
              <a:t>&lt;&lt;include&gt;&gt;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41414"/>
                </a:solidFill>
              </a:defRPr>
            </a:pPr>
            <a:r>
              <a:t>The base use case always uses the included use case.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41414"/>
                </a:solidFill>
              </a:defRPr>
            </a:pPr>
            <a:r>
              <a:t>Good for common required functionality such as authentication.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074920" cy="5486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A365D"/>
                </a:solidFill>
              </a:defRPr>
            </a:pPr>
            <a:r>
              <a:t>&lt;&lt;extend&gt;&gt; = optional or conditional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02840"/>
            <a:ext cx="201168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Make Appointment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402840"/>
            <a:ext cx="201168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rPr dirty="0"/>
              <a:t>Update Patient Info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76856"/>
            <a:ext cx="960120" cy="32004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EE892B"/>
                </a:solidFill>
              </a:defRPr>
            </a:pPr>
            <a:r>
              <a:t>&lt;&lt;extend&gt;&gt;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41414"/>
                </a:solidFill>
              </a:defRPr>
            </a:pPr>
            <a:r>
              <a:t>The extension happens only under a condition.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41414"/>
                </a:solidFill>
              </a:defRPr>
            </a:pPr>
            <a:r>
              <a:t>Example: update patient info only if profile is outdated.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FAAB3F-29DD-3A90-B1A1-B449091E1F6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88920" y="2668016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E0851A-E4B5-DBC5-073D-BC0441C97879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8412480" y="2668016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relationship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Choose the relationship based on meaning, not visual convenience.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Relationship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Arrow direction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Actor communicates with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Actor ↔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Patient — Make appointment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Generalization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Child specializes parent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Child → Parent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New Patient → Patient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&lt;&lt;include&gt;&gt;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Required reused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Base → 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Withdraw Cash → Validate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&lt;&lt;extend&gt;&gt;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Optional/conditional behavior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Extension → Base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</a:defRPr>
                      </a:pPr>
                      <a:r>
                        <a:t>Update Info → Make Appointment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43000" y="5257800"/>
            <a:ext cx="9875520" cy="594360"/>
          </a:xfrm>
          <a:prstGeom prst="roundRect">
            <a:avLst/>
          </a:prstGeom>
          <a:solidFill>
            <a:srgbClr val="E5E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Rule of thumb: include = mandatory subfunction; extend = conditional addition.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Use case textual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diagram shows scope; a use case description gives operational detail.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Brief description</a:t>
            </a:r>
            <a:br/>
            <a:r>
              <a:t>What task is being performed?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23444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Actors</a:t>
            </a:r>
            <a:br/>
            <a:r>
              <a:t>Primary and secondary 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Preconditions</a:t>
            </a:r>
            <a:br/>
            <a:r>
              <a:t>What must already be true?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33172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Basic flow</a:t>
            </a:r>
            <a:br/>
            <a:r>
              <a:t>Successful scenario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Alternative flows</a:t>
            </a:r>
            <a:br/>
            <a:r>
              <a:t>What if something goes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42900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Postconditions</a:t>
            </a:r>
            <a:br/>
            <a:r>
              <a:t>What is true after success/failure?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572000"/>
            <a:ext cx="5029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Special requirements</a:t>
            </a:r>
            <a:br/>
            <a:r>
              <a:t>Rules, constraints,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Example use case: ATM Withdrawal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formal use case turns a diagram into testable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743200" cy="54864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7955279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FR1: ATM_Withdraw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743200" cy="86868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57400"/>
            <a:ext cx="795527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Bank customer withdraws money from a bank account using an ATM.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2743200" cy="86868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Actors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154680"/>
            <a:ext cx="795527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Primary: Bank Customer</a:t>
            </a:r>
            <a:br/>
            <a:r>
              <a:t>Secondary/supporting: Bank, ATM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2743200" cy="114300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Preconditions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251960"/>
            <a:ext cx="7955279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1. Active network connection to the bank.</a:t>
            </a:r>
            <a:br/>
            <a:r>
              <a:t>2. ATM has cash 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ATM Withdrawal: basic successful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basic flow describes the normal success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1. Insert bank card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1655064"/>
            <a:ext cx="640080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80560" y="132588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2. Validate 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6679" y="1655064"/>
            <a:ext cx="640081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66760" y="132588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3. Select “Withdraw Cash”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4. Select account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072384"/>
            <a:ext cx="640080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80560" y="274320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5. Enter amount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3072384"/>
            <a:ext cx="640081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66760" y="274320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6. Bank approves transaction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7. Dispense cash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4489704"/>
            <a:ext cx="640080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80560" y="416052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8. Return card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4489704"/>
            <a:ext cx="640081" cy="0"/>
          </a:xfrm>
          <a:prstGeom prst="line">
            <a:avLst/>
          </a:prstGeom>
          <a:ln w="1397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4160520"/>
            <a:ext cx="3246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9. Print receipt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715000"/>
            <a:ext cx="10241280" cy="502920"/>
          </a:xfrm>
          <a:prstGeom prst="roundRect">
            <a:avLst/>
          </a:prstGeom>
          <a:solidFill>
            <a:srgbClr val="E6F6E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Each step should be observable enough to support review, implementation, or test design.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91C7FB-EE1F-429E-616F-B490DF26C1D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17420" y="1984248"/>
            <a:ext cx="7772400" cy="758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1C297B-0096-7C35-F4DF-5F74D5704AAC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2217420" y="3401568"/>
            <a:ext cx="7772400" cy="758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ATM Withdrawal: alternative flows and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Alternative flows make the requirements realistic and testable.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Invalid user</a:t>
            </a:r>
            <a:br/>
            <a:r>
              <a:t>Validate User fails → use case ends with failure condition.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Wrong account</a:t>
            </a:r>
            <a:br/>
            <a:r>
              <a:t>Bank card is not associated with selected account → show message and return to account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Wrong amount</a:t>
            </a:r>
            <a:br/>
            <a:r>
              <a:t>Amount cannot be created with available bills → ask customer to reenter amount.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5176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Exceeds individual limit</a:t>
            </a:r>
            <a:br/>
            <a:r>
              <a:t>Amount exceeds maximum withdrawal → show warning and return to amount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Exceeds daily limit</a:t>
            </a:r>
            <a:br/>
            <a:r>
              <a:t>Bank rejects transaction due to daily limit → show warning and return to amount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4937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Special requirements</a:t>
            </a:r>
            <a:br/>
            <a:r>
              <a:t>Cash in multiples of $20; maximum individual withdrawal $500; log complete and incomplete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158CC-D487-264D-FF5E-6E5D785F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7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BDD91-C81D-8031-7C9A-EE2C3805424A}"/>
              </a:ext>
            </a:extLst>
          </p:cNvPr>
          <p:cNvSpPr txBox="1"/>
          <p:nvPr/>
        </p:nvSpPr>
        <p:spPr>
          <a:xfrm>
            <a:off x="842096" y="323562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Appointment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DA7EA3-2709-B5FF-199D-F75467E2A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298702"/>
            <a:ext cx="7347537" cy="426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66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UML class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class diagram shows the static structure of an object-oriented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03520" cy="28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A class diagram pictures classes in an OO system.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It shows fields/attributes and methods/operations.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It shows connections between classes that interact or inherit from one another.</a:t>
            </a:r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141414"/>
                </a:solidFill>
              </a:defRPr>
            </a:pPr>
            <a:r>
              <a:rPr dirty="0"/>
              <a:t>It does not show algorithmic details or the exact sequence of object interactions.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554480"/>
            <a:ext cx="3200400" cy="411480"/>
          </a:xfrm>
          <a:prstGeom prst="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Appointment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965960"/>
            <a:ext cx="3200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- date: Date</a:t>
            </a:r>
            <a:br/>
            <a:r>
              <a:t>- status: String</a:t>
            </a:r>
            <a:br/>
            <a:r>
              <a:t>- fee: double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880360"/>
            <a:ext cx="3200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+ confirm(): void</a:t>
            </a:r>
            <a:br/>
            <a:r>
              <a:t>+ cancel(): boolean</a:t>
            </a:r>
          </a:p>
        </p:txBody>
      </p:sp>
      <p:sp>
        <p:nvSpPr>
          <p:cNvPr id="9" name="Oval 8"/>
          <p:cNvSpPr/>
          <p:nvPr/>
        </p:nvSpPr>
        <p:spPr>
          <a:xfrm>
            <a:off x="10127894" y="2240280"/>
            <a:ext cx="179222" cy="179222"/>
          </a:xfrm>
          <a:prstGeom prst="ellipse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217505" y="2419502"/>
            <a:ext cx="0" cy="300838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76688" y="2528316"/>
            <a:ext cx="288036" cy="0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076688" y="2720340"/>
            <a:ext cx="140817" cy="192024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17505" y="2720340"/>
            <a:ext cx="147219" cy="192024"/>
          </a:xfrm>
          <a:prstGeom prst="line">
            <a:avLst/>
          </a:prstGeom>
          <a:ln w="1905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59" y="2931566"/>
            <a:ext cx="544068" cy="1792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0" y="2651760"/>
            <a:ext cx="365760" cy="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Diagram of a single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class rectangle is divided into name, attributes, and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3749039" cy="530352"/>
          </a:xfrm>
          <a:prstGeom prst="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47672"/>
            <a:ext cx="3749039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- name: String</a:t>
            </a:r>
            <a:br/>
            <a:r>
              <a:t>- id: int</a:t>
            </a:r>
            <a:br/>
            <a:r>
              <a:t>- totalStudents: 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82112"/>
            <a:ext cx="3749039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A365D"/>
                </a:solidFill>
              </a:defRPr>
            </a:pPr>
            <a:r>
              <a:t># getID(): int</a:t>
            </a:r>
            <a:br/>
            <a:r>
              <a:t>~ getEmail(): String</a:t>
            </a:r>
            <a:br/>
            <a:r>
              <a:t>+ calculateGPA(crs: Course[]): float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3200400" cy="594360"/>
          </a:xfrm>
          <a:prstGeom prst="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&lt;&lt;interface&gt;&gt;</a:t>
            </a:r>
            <a:br/>
            <a:r>
              <a:t>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32004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A365D"/>
                </a:solidFill>
              </a:defRPr>
            </a:pPr>
            <a:r>
              <a:t>+ calculateArea(): double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058400" cy="657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500" b="0">
                <a:solidFill>
                  <a:srgbClr val="141414"/>
                </a:solidFill>
              </a:defRPr>
            </a:pPr>
            <a:r>
              <a:rPr dirty="0"/>
              <a:t>Class name goes on top. Attributes are optional in the middle. Operations are optional at the bottom.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500" b="0">
                <a:solidFill>
                  <a:srgbClr val="141414"/>
                </a:solidFill>
              </a:defRPr>
            </a:pPr>
            <a:r>
              <a:rPr dirty="0"/>
              <a:t>For interfaces, do not omit the methods that define the interface contract.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Class attributes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Visibility tells who can access a field or method.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49377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Visibility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 name: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protected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 age: int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 DOB: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package/default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~ courses[100]: Course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371600"/>
            <a:ext cx="4572000" cy="64008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Operation signature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45720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1A365D"/>
                </a:solidFill>
              </a:defRPr>
            </a:pPr>
            <a:r>
              <a:t>visibility name(parameters) : return_type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566160"/>
            <a:ext cx="45720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A365D"/>
                </a:solidFill>
              </a:defRPr>
            </a:pPr>
            <a:r>
              <a:t>+ calculateGPA(crs: Course[]) : float</a:t>
            </a:r>
            <a:br/>
            <a:r>
              <a:t>+ Student(n: String, dob: String)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074920"/>
            <a:ext cx="4572000" cy="640080"/>
          </a:xfrm>
          <a:prstGeom prst="roundRect">
            <a:avLst/>
          </a:prstGeom>
          <a:solidFill>
            <a:srgbClr val="FFEFD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Constructors normally omit return type; void methods may omit return type in many UML teaching contexts.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Relationships between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Class diagrams become powerful when relationships are modeled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984248"/>
            <a:ext cx="4937760" cy="77724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Generalization</a:t>
            </a:r>
            <a:br/>
            <a:r>
              <a:t>Inheritance or interface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984248"/>
            <a:ext cx="4937760" cy="77724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Association</a:t>
            </a:r>
            <a:br/>
            <a:r>
              <a:t>Objects are connected or use one another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191256"/>
            <a:ext cx="4937760" cy="7772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Aggregation</a:t>
            </a:r>
            <a:br/>
            <a:r>
              <a:t>Weak “part-of” relationship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3191256"/>
            <a:ext cx="4937760" cy="777240"/>
          </a:xfrm>
          <a:prstGeom prst="roundRect">
            <a:avLst/>
          </a:prstGeom>
          <a:solidFill>
            <a:srgbClr val="EFE8FF"/>
          </a:solidFill>
          <a:ln w="15240"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Composition</a:t>
            </a:r>
            <a:br/>
            <a:r>
              <a:t>Strong whole-part lifetime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846320"/>
            <a:ext cx="49377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Dependency</a:t>
            </a:r>
            <a:br/>
            <a:r>
              <a:t>Temporary use; often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Class relationship: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Inheritance arrows point upward to the parent.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89076" y="910928"/>
            <a:ext cx="2560320" cy="502920"/>
          </a:xfrm>
          <a:prstGeom prst="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dirty="0"/>
              <a:t>&lt;&lt;interface&gt;&gt;</a:t>
            </a:r>
            <a:br>
              <a:rPr dirty="0"/>
            </a:br>
            <a:r>
              <a:rPr dirty="0"/>
              <a:t>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8432" y="1413848"/>
            <a:ext cx="25603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+ calculateArea(): double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2971800"/>
            <a:ext cx="3566160" cy="502920"/>
          </a:xfrm>
          <a:prstGeom prst="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rPr i="1" dirty="0" err="1"/>
              <a:t>RectangularShape</a:t>
            </a:r>
            <a:endParaRPr i="1" dirty="0"/>
          </a:p>
        </p:txBody>
      </p:sp>
      <p:sp>
        <p:nvSpPr>
          <p:cNvPr id="8" name="Rectangle 7"/>
          <p:cNvSpPr/>
          <p:nvPr/>
        </p:nvSpPr>
        <p:spPr>
          <a:xfrm>
            <a:off x="4876800" y="3474720"/>
            <a:ext cx="356616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- width: int</a:t>
            </a:r>
            <a:br/>
            <a:r>
              <a:t>- height: int</a:t>
            </a:r>
            <a:br/>
            <a:r>
              <a:t>/ area: double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0" y="4480560"/>
            <a:ext cx="356616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+ calculateArea(): double</a:t>
            </a:r>
            <a:br/>
            <a:r>
              <a:t>+ contains(x:int,y:int): bool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846320"/>
            <a:ext cx="20116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Rectangle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48800" y="4846320"/>
            <a:ext cx="20116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Square</a:t>
            </a:r>
          </a:p>
        </p:txBody>
      </p:sp>
      <p:cxnSp>
        <p:nvCxnSpPr>
          <p:cNvPr id="13" name="Connector 12"/>
          <p:cNvCxnSpPr>
            <a:cxnSpLocks/>
            <a:endCxn id="8" idx="1"/>
          </p:cNvCxnSpPr>
          <p:nvPr/>
        </p:nvCxnSpPr>
        <p:spPr>
          <a:xfrm flipV="1">
            <a:off x="2377440" y="3977640"/>
            <a:ext cx="2499360" cy="868680"/>
          </a:xfrm>
          <a:prstGeom prst="line">
            <a:avLst/>
          </a:prstGeom>
          <a:ln w="17780">
            <a:solidFill>
              <a:srgbClr val="1A365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11" idx="0"/>
          </p:cNvCxnSpPr>
          <p:nvPr/>
        </p:nvCxnSpPr>
        <p:spPr>
          <a:xfrm flipH="1" flipV="1">
            <a:off x="8442960" y="3977640"/>
            <a:ext cx="2011680" cy="868680"/>
          </a:xfrm>
          <a:prstGeom prst="line">
            <a:avLst/>
          </a:prstGeom>
          <a:ln w="17780">
            <a:solidFill>
              <a:srgbClr val="1A365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1508760"/>
            <a:ext cx="3108960" cy="1619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00" b="0">
                <a:solidFill>
                  <a:srgbClr val="141414"/>
                </a:solidFill>
              </a:defRPr>
            </a:pPr>
            <a:r>
              <a:rPr lang="en-US" dirty="0"/>
              <a:t>Abstract c</a:t>
            </a:r>
            <a:r>
              <a:rPr dirty="0"/>
              <a:t>lass parent: solid line with hollow triangle.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00" b="0">
                <a:solidFill>
                  <a:srgbClr val="141414"/>
                </a:solidFill>
              </a:defRPr>
            </a:pPr>
            <a:r>
              <a:rPr dirty="0"/>
              <a:t>Interface implementation: dashed line with hollow triangle.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00" b="0">
                <a:solidFill>
                  <a:srgbClr val="141414"/>
                </a:solidFill>
              </a:defRPr>
            </a:pPr>
            <a:r>
              <a:rPr dirty="0"/>
              <a:t>Abstract classes often use italic names.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337902-0736-1D88-4B34-AB01E81B7C4F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6659880" y="2008208"/>
            <a:ext cx="18712" cy="963592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Association multiplicity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Multiplicity specifies how many objects participate in a relationship.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8288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18288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Engine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691640"/>
            <a:ext cx="2011680" cy="0"/>
          </a:xfrm>
          <a:prstGeom prst="line">
            <a:avLst/>
          </a:prstGeom>
          <a:ln w="1651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1234440"/>
            <a:ext cx="548640" cy="27432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234440"/>
            <a:ext cx="548640" cy="27432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18288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43200"/>
            <a:ext cx="18288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Page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017520"/>
            <a:ext cx="2011680" cy="0"/>
          </a:xfrm>
          <a:prstGeom prst="line">
            <a:avLst/>
          </a:prstGeom>
          <a:ln w="1651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2560320"/>
            <a:ext cx="548640" cy="27432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560320"/>
            <a:ext cx="548640" cy="27432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25880"/>
            <a:ext cx="38404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41414"/>
                </a:solidFill>
              </a:defRPr>
            </a:pPr>
            <a:r>
              <a:t>Common multiplicities</a:t>
            </a:r>
            <a:br/>
            <a:br/>
            <a:r>
              <a:t>1 = exactly one</a:t>
            </a:r>
            <a:br/>
            <a:r>
              <a:t>* = zero or more</a:t>
            </a:r>
            <a:br/>
            <a:r>
              <a:t>2..4 = between 2 and 4</a:t>
            </a:r>
            <a:br/>
            <a:r>
              <a:t>3..* = three or more</a:t>
            </a:r>
            <a:br/>
            <a:r>
              <a:t>0..1 = optional / at most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074920"/>
            <a:ext cx="9784080" cy="685800"/>
          </a:xfrm>
          <a:prstGeom prst="roundRect">
            <a:avLst/>
          </a:prstGeom>
          <a:solidFill>
            <a:srgbClr val="E6F6E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1A365D"/>
                </a:solidFill>
              </a:defRPr>
            </a:pPr>
            <a:r>
              <a:t>Multiplicity is one of the most testable pieces of a class diagram.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Association types: aggregation, composition,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The diamond and line style change the meaning.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4572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Aggregation: weak part-of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Player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578608"/>
            <a:ext cx="457200" cy="0"/>
          </a:xfrm>
          <a:prstGeom prst="line">
            <a:avLst/>
          </a:prstGeom>
          <a:ln w="16510">
            <a:solidFill>
              <a:srgbClr val="EE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2148840" y="2450592"/>
            <a:ext cx="256032" cy="256032"/>
          </a:xfrm>
          <a:prstGeom prst="diamond">
            <a:avLst/>
          </a:prstGeom>
          <a:solidFill>
            <a:srgbClr val="FFFFFF"/>
          </a:solidFill>
          <a:ln>
            <a:solidFill>
              <a:srgbClr val="EE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457200"/>
          </a:xfrm>
          <a:prstGeom prst="roundRect">
            <a:avLst/>
          </a:prstGeom>
          <a:solidFill>
            <a:srgbClr val="EFE8FF"/>
          </a:solidFill>
          <a:ln w="15240"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Composition: strong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Page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80" y="2578608"/>
            <a:ext cx="457200" cy="0"/>
          </a:xfrm>
          <a:prstGeom prst="line">
            <a:avLst/>
          </a:prstGeom>
          <a:ln w="16510">
            <a:solidFill>
              <a:srgbClr val="705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5760720" y="2450592"/>
            <a:ext cx="256032" cy="256032"/>
          </a:xfrm>
          <a:prstGeom prst="diamond">
            <a:avLst/>
          </a:prstGeom>
          <a:solidFill>
            <a:srgbClr val="7054B2"/>
          </a:solidFill>
          <a:ln>
            <a:solidFill>
              <a:srgbClr val="705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457200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Dependency: temporary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Lottery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2331720"/>
            <a:ext cx="13716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Random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0" y="2578608"/>
            <a:ext cx="457200" cy="0"/>
          </a:xfrm>
          <a:prstGeom prst="line">
            <a:avLst/>
          </a:prstGeom>
          <a:ln w="16510">
            <a:solidFill>
              <a:srgbClr val="2F67F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703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Aggregation: the part can exist independently of the whole.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Composition: the parts live and die with the whole.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 b="0">
                <a:solidFill>
                  <a:srgbClr val="141414"/>
                </a:solidFill>
              </a:defRPr>
            </a:pPr>
            <a:r>
              <a:t>Dependency: one class uses another temporarily; often not an intrinsic part of object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Class diagram example: Hotel reservation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This example connects the UML class concepts to a real project domain.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331720" cy="411480"/>
          </a:xfrm>
          <a:prstGeom prst="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3317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- name: String</a:t>
            </a:r>
            <a:br/>
            <a:r>
              <a:t>- email: 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23317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+ makeReservation()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417320"/>
            <a:ext cx="2331720" cy="411480"/>
          </a:xfrm>
          <a:prstGeom prst="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23317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- checkIn: Date</a:t>
            </a:r>
            <a:br/>
            <a:r>
              <a:t>- checkOut: Date</a:t>
            </a:r>
            <a:br/>
            <a:r>
              <a:t>- status: 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651760"/>
            <a:ext cx="23317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+ cancel()</a:t>
            </a:r>
            <a:br/>
            <a:r>
              <a:t>+ changeDates()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417320"/>
            <a:ext cx="2331720" cy="411480"/>
          </a:xfrm>
          <a:prstGeom prst="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828800"/>
            <a:ext cx="23317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- roomNo: String</a:t>
            </a:r>
            <a:br/>
            <a:r>
              <a:t>- type: String</a:t>
            </a:r>
            <a:br/>
            <a:r>
              <a:t>- rate: double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651760"/>
            <a:ext cx="23317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+ isAvailable()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886200"/>
            <a:ext cx="2331720" cy="411480"/>
          </a:xfrm>
          <a:prstGeom prst="rect">
            <a:avLst/>
          </a:prstGeom>
          <a:solidFill>
            <a:srgbClr val="1A365D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4297680"/>
            <a:ext cx="23317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- amount: double</a:t>
            </a:r>
            <a:br/>
            <a:r>
              <a:t>- status: String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5120640"/>
            <a:ext cx="23317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A365D"/>
                </a:solidFill>
              </a:defRPr>
            </a:pPr>
            <a:r>
              <a:t>+ authorize()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2331720"/>
            <a:ext cx="777240" cy="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46120" y="201168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01168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63640" y="2331720"/>
            <a:ext cx="777240" cy="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55080" y="201168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01168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93208" y="3246120"/>
            <a:ext cx="0" cy="640080"/>
          </a:xfrm>
          <a:prstGeom prst="line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63440" y="342900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3611880"/>
            <a:ext cx="41148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A365D"/>
                </a:solidFill>
              </a:defRPr>
            </a:pPr>
            <a:r>
              <a:t>0..1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828800"/>
            <a:ext cx="1645920" cy="1645920"/>
          </a:xfrm>
          <a:prstGeom prst="roundRect">
            <a:avLst/>
          </a:prstGeom>
          <a:solidFill>
            <a:srgbClr val="E6F6EB"/>
          </a:solidFill>
          <a:ln w="15240">
            <a:solidFill>
              <a:srgbClr val="4FA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41414"/>
                </a:solidFill>
              </a:defRPr>
            </a:pPr>
            <a:r>
              <a:t>Interpretation</a:t>
            </a:r>
            <a:br/>
            <a:br/>
            <a:r>
              <a:t>A guest can have many reservations.</a:t>
            </a:r>
            <a:br/>
            <a:r>
              <a:t>Each reservation books one room and may have one payment.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Sequence diagrams: time-ordered interaction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sequence diagram complements a class diagram by showing messages over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Shows objects or actors across the top and time flowing downward.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Useful when the question is “who sends what message to whom, and in what order?”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141414"/>
                </a:solidFill>
              </a:defRPr>
            </a:pPr>
            <a:r>
              <a:t>Example: booking an appointment involves Patient, Web App, Doctor Calendar, and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Patient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72100" y="1801368"/>
            <a:ext cx="0" cy="3867912"/>
          </a:xfrm>
          <a:prstGeom prst="line">
            <a:avLst/>
          </a:prstGeom>
          <a:ln w="12700">
            <a:solidFill>
              <a:srgbClr val="A5AFB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41732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Web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18020" y="1801368"/>
            <a:ext cx="0" cy="3867912"/>
          </a:xfrm>
          <a:prstGeom prst="line">
            <a:avLst/>
          </a:prstGeom>
          <a:ln w="12700">
            <a:solidFill>
              <a:srgbClr val="A5AFB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8160" y="141732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Doctor Calendar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55380" y="1801368"/>
            <a:ext cx="0" cy="3867912"/>
          </a:xfrm>
          <a:prstGeom prst="line">
            <a:avLst/>
          </a:prstGeom>
          <a:ln w="12700">
            <a:solidFill>
              <a:srgbClr val="A5AFB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41732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75620" y="1801368"/>
            <a:ext cx="0" cy="3867912"/>
          </a:xfrm>
          <a:prstGeom prst="line">
            <a:avLst/>
          </a:prstGeom>
          <a:ln w="12700">
            <a:solidFill>
              <a:srgbClr val="A5AFB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72100" y="2148840"/>
            <a:ext cx="1645920" cy="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7820" y="1892808"/>
            <a:ext cx="16459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365D"/>
                </a:solidFill>
              </a:defRPr>
            </a:pPr>
            <a:r>
              <a:t>requestAppointment()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18020" y="2788920"/>
            <a:ext cx="1737360" cy="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63740" y="2532887"/>
            <a:ext cx="1737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365D"/>
                </a:solidFill>
              </a:defRPr>
            </a:pPr>
            <a:r>
              <a:t>checkAvailability()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5380" y="3429000"/>
            <a:ext cx="1920240" cy="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01100" y="3172968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365D"/>
                </a:solidFill>
              </a:defRPr>
            </a:pPr>
            <a:r>
              <a:t>saveAppointment()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018020" y="4069080"/>
            <a:ext cx="3657600" cy="0"/>
          </a:xfrm>
          <a:prstGeom prst="line">
            <a:avLst/>
          </a:prstGeom>
          <a:ln w="1524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63740" y="381304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365D"/>
                </a:solidFill>
              </a:defRPr>
            </a:pPr>
            <a:r>
              <a:t>confirmation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372100" y="4709160"/>
            <a:ext cx="1645920" cy="0"/>
          </a:xfrm>
          <a:prstGeom prst="line">
            <a:avLst/>
          </a:prstGeom>
          <a:ln w="1524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17820" y="4453128"/>
            <a:ext cx="16459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A365D"/>
                </a:solidFill>
              </a:defRPr>
            </a:pPr>
            <a:r>
              <a:t>showConfirmation()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State diagrams: lifecycle of one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A state diagram is useful when an object has important status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931920" cy="2183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 b="0">
                <a:solidFill>
                  <a:srgbClr val="141414"/>
                </a:solidFill>
              </a:defRPr>
            </a:pPr>
            <a:r>
              <a:rPr dirty="0"/>
              <a:t>Shows valid states of an object and transitions between them.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 b="0">
                <a:solidFill>
                  <a:srgbClr val="141414"/>
                </a:solidFill>
              </a:defRPr>
            </a:pPr>
            <a:r>
              <a:rPr dirty="0"/>
              <a:t>Useful for objects such as Reservation, Order, Ticket, Account, or Payment.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 b="0">
                <a:solidFill>
                  <a:srgbClr val="141414"/>
                </a:solidFill>
              </a:defRPr>
            </a:pPr>
            <a:r>
              <a:rPr dirty="0"/>
              <a:t>Complements activity diagrams: activity diagrams show workflow; state diagrams show object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554480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Requested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4320" y="1559052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rPr dirty="0"/>
              <a:t>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94320" y="3204972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Checked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572000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Cancelled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440" y="4576572"/>
            <a:ext cx="14630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A365D"/>
                </a:solidFill>
              </a:defRPr>
            </a:pPr>
            <a:r>
              <a:t>Completed</a:t>
            </a:r>
          </a:p>
        </p:txBody>
      </p:sp>
      <p:cxnSp>
        <p:nvCxnSpPr>
          <p:cNvPr id="11" name="Connector 10"/>
          <p:cNvCxnSpPr>
            <a:cxnSpLocks/>
            <a:endCxn id="7" idx="1"/>
          </p:cNvCxnSpPr>
          <p:nvPr/>
        </p:nvCxnSpPr>
        <p:spPr>
          <a:xfrm>
            <a:off x="6675120" y="1810512"/>
            <a:ext cx="1219200" cy="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057400"/>
            <a:ext cx="0" cy="1143000"/>
          </a:xfrm>
          <a:prstGeom prst="line">
            <a:avLst/>
          </a:prstGeom>
          <a:ln w="15240">
            <a:solidFill>
              <a:srgbClr val="2F6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057400"/>
            <a:ext cx="0" cy="2514600"/>
          </a:xfrm>
          <a:prstGeom prst="line">
            <a:avLst/>
          </a:prstGeom>
          <a:ln w="1524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3703320"/>
            <a:ext cx="2103120" cy="868680"/>
          </a:xfrm>
          <a:prstGeom prst="line">
            <a:avLst/>
          </a:prstGeom>
          <a:ln w="15240">
            <a:solidFill>
              <a:srgbClr val="4FA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80340" y="1476720"/>
            <a:ext cx="60876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365D"/>
                </a:solidFill>
              </a:defRPr>
            </a:pPr>
            <a:r>
              <a:rPr dirty="0"/>
              <a:t>approve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657600"/>
            <a:ext cx="502920" cy="22860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365D"/>
                </a:solidFill>
              </a:defRPr>
            </a:pPr>
            <a:r>
              <a:t>cancel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t>UML Lecture | 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ptos Display"/>
              </a:defRPr>
            </a:pPr>
            <a:r>
              <a:t>Common UML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069"/>
                </a:solidFill>
              </a:defRPr>
            </a:pPr>
            <a:r>
              <a:t>UML is valuable only when notation and meaning match.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97280" cy="45720"/>
          </a:xfrm>
          <a:prstGeom prst="rect">
            <a:avLst/>
          </a:prstGeom>
          <a:solidFill>
            <a:srgbClr val="2F6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186537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Putting actors inside system boundary</a:t>
            </a:r>
            <a:br/>
            <a:r>
              <a:t>Fix: Actors are external to the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86537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Using include/extend randomly</a:t>
            </a:r>
            <a:br/>
            <a:r>
              <a:t>Fix: Include is required; extend is optional/conditional.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19125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Drawing every implementation detail</a:t>
            </a:r>
            <a:br/>
            <a:r>
              <a:t>Fix: A model should simplify, not duplicate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319125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Omitting multiplicity</a:t>
            </a:r>
            <a:br/>
            <a:r>
              <a:t>Fix: Multiplicity often encodes key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451713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Treating class diagrams as database ERDs</a:t>
            </a:r>
            <a:br/>
            <a:r>
              <a:t>Fix: They overlap, but class diagrams model objects and behavior too.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4517136"/>
            <a:ext cx="5257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Leaving diagrams stale</a:t>
            </a:r>
            <a:br/>
            <a:r>
              <a:t>Fix: A misleading model is worse than no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6402" y="6446520"/>
            <a:ext cx="10021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7"/>
                </a:solidFill>
              </a:defRPr>
            </a:pPr>
            <a:r>
              <a:rPr dirty="0"/>
              <a:t>UML Lecture | 3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2151</TotalTime>
  <Words>2962</Words>
  <Application>Microsoft Macintosh PowerPoint</Application>
  <PresentationFormat>Widescreen</PresentationFormat>
  <Paragraphs>446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Arif Shariar Rahman</cp:lastModifiedBy>
  <cp:revision>4</cp:revision>
  <dcterms:created xsi:type="dcterms:W3CDTF">2013-01-27T09:14:16Z</dcterms:created>
  <dcterms:modified xsi:type="dcterms:W3CDTF">2026-06-04T02:55:25Z</dcterms:modified>
  <cp:category/>
</cp:coreProperties>
</file>